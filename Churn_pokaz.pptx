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64" r:id="rId12"/>
    <p:sldId id="271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965960"/>
            <a:ext cx="10874959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200" b="0">
                <a:solidFill>
                  <a:srgbClr val="6B6B6B"/>
                </a:solidFill>
                <a:latin typeface="Calibri" panose="020F0502020204030204"/>
              </a:rPr>
              <a:t>ОТТОК</a:t>
            </a:r>
            <a:endParaRPr sz="12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ru-RU" sz="3400" b="1">
                <a:solidFill>
                  <a:srgbClr val="1A1A1A"/>
                </a:solidFill>
                <a:latin typeface="Calibri" panose="020F0502020204030204"/>
              </a:rPr>
              <a:t>Ассаламу алейкум</a:t>
            </a:r>
            <a:endParaRPr sz="3400" b="1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6B6B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ТАРГЕТ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90 дней без approved после snapshot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874959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1A1A1A"/>
                </a:solidFill>
                <a:latin typeface="Calibri" panose="020F0502020204030204"/>
              </a:rPr>
              <a:t>target = 1, если клиент жив на snapshot и в следующие 90 дней нет ни одной approved-операции. Иначе 0.</a:t>
            </a:r>
            <a:endParaRPr sz="1800" b="1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Calibri" panose="020F0502020204030204"/>
              </a:rPr>
              <a:t>Не берём customers_360.is_churned (там тишина 31 день).</a:t>
            </a:r>
            <a:endParaRPr sz="1500" b="0">
              <a:solidFill>
                <a:srgbClr val="6B6B6B"/>
              </a:solidFill>
              <a:latin typeface="Calibri" panose="020F050202020403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880360"/>
          <a:ext cx="108749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991"/>
                <a:gridCol w="2174991"/>
                <a:gridCol w="2174991"/>
                <a:gridCol w="2174991"/>
                <a:gridCol w="2174991"/>
              </a:tblGrid>
              <a:tr h="731520">
                <a:tc>
                  <a:txBody>
                    <a:bodyPr/>
                    <a:lstStyle/>
                    <a:p>
                      <a:pPr algn="l"/>
                      <a:endParaRPr sz="1400" b="1">
                        <a:solidFill>
                          <a:srgbClr val="6B6B6B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Порог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Лаг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Train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Test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Правило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90 дней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 дней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2025-06-30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2025-09-25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Смысл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окно метки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старт snap+6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06.07–04.10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01.10–30.12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303520"/>
            <a:ext cx="10874959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 panose="020F0502020204030204"/>
              </a:rPr>
              <a:t>Лаг 6 после snap: между скорингом и стартом окна метки. Фичи &lt; snap, target с snap+6. Churn, не uplift.</a:t>
            </a:r>
            <a:endParaRPr sz="1500" b="0">
              <a:solidFill>
                <a:srgbClr val="6B6B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ТАРГЕТ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Почему 90, а не 30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235"/>
                <a:gridCol w="2990613"/>
                <a:gridCol w="4078109"/>
              </a:tblGrid>
              <a:tr h="640080">
                <a:tc>
                  <a:txBody>
                    <a:bodyPr/>
                    <a:lstStyle/>
                    <a:p>
                      <a:pPr algn="l"/>
                      <a:endParaRPr sz="1500" b="1">
                        <a:solidFill>
                          <a:srgbClr val="6B6B6B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Число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Вывод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p50 / p90 / p95 / p99 gap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3 / 12 / 17 / 37 дн.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обычный ритм, не уход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return после 28 дней тишины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83%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порог 30 ловит живых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return после 91 дня тишины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~26%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уже уход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пример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gap 121, txn 24.12.2025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длинная пауза ≠ ушёл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846320"/>
            <a:ext cx="10874959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A1A1A"/>
                </a:solidFill>
                <a:latin typeface="Calibri" panose="020F0502020204030204"/>
              </a:rPr>
              <a:t>Gap — ритм между операциями. Return rate — вернулся ли после тишины. Таргет по второму.</a:t>
            </a:r>
            <a:endParaRPr sz="1600" b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ТАРГЕТ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Проверка устойчивости порога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991"/>
                <a:gridCol w="2174991"/>
                <a:gridCol w="2174991"/>
                <a:gridCol w="2174991"/>
                <a:gridCol w="2174991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Горизонт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N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target=1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доля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AUC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60 дней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12 367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1 112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8.99%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0.879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90 дней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12 367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875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7.08%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0.931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120 дней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12 367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814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6.58%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0.932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754880"/>
            <a:ext cx="10874959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 panose="020F0502020204030204"/>
              </a:rPr>
              <a:t>Сравнили соседние горизонты на одном и том же train-срезе. 90 дней не максимум и не минимум, а рабочий компромисс.</a:t>
            </a:r>
            <a:endParaRPr sz="1600" b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 panose="020F0502020204030204"/>
              </a:rPr>
              <a:t>60 дней даёт больше churn, потому что часть клиентов ещё вернулась бы позже. 120 дней спокойнее, но слишком поздно для удержания.</a:t>
            </a:r>
            <a:endParaRPr sz="1400" b="0">
              <a:solidFill>
                <a:srgbClr val="6B6B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ТАРГЕТ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Кого размечаем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8734"/>
                <a:gridCol w="6706224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В выборке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Не в выборке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tenure ≥ 60 дней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новички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approved за 90д до snap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уже молчит &gt; 90 дней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snap + lag + 90 ≤ 31.12.2025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окно не закрыто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фичи только дата &lt; snap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360, NPS ноя–дек, будущее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257800"/>
            <a:ext cx="10874959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 panose="020F0502020204030204"/>
              </a:rPr>
              <a:t>label_start = snap + 6. Test snap 25.09, чтобы окно закрылось к 31.12.</a:t>
            </a:r>
            <a:endParaRPr sz="1500" b="0">
              <a:solidFill>
                <a:srgbClr val="6B6B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ДАТАСЕТ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Два среза, не random split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493"/>
                <a:gridCol w="1812493"/>
                <a:gridCol w="1812493"/>
                <a:gridCol w="1812493"/>
                <a:gridCol w="1812493"/>
                <a:gridCol w="1812493"/>
              </a:tblGrid>
              <a:tr h="762000">
                <a:tc>
                  <a:txBody>
                    <a:bodyPr/>
                    <a:lstStyle/>
                    <a:p>
                      <a:pPr algn="l"/>
                      <a:endParaRPr sz="1500" b="1">
                        <a:solidFill>
                          <a:srgbClr val="6B6B6B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Snapshot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label+6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N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target=1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доля</a:t>
                      </a:r>
                      <a:endParaRPr sz="15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train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30.06.2025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06.07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12 265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789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6.43%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test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25.09.2025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01.10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12 876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956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7.42%</a:t>
                      </a:r>
                      <a:endParaRPr sz="15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931920"/>
            <a:ext cx="10874959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1A1A1A"/>
                </a:solidFill>
                <a:latin typeface="Calibri" panose="020F0502020204030204"/>
              </a:rPr>
              <a:t>Строка = клиент на дату. Фичи до snap, target с snap+6 на 90д. </a:t>
            </a:r>
            <a:endParaRPr sz="1600" b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 panose="020F0502020204030204"/>
              </a:rPr>
              <a:t>Источник: customers, transactions (approved), cards, tickets, subscriptions, charges, tariff_changes, app_events, product_events.</a:t>
            </a:r>
            <a:endParaRPr sz="1400" b="0">
              <a:solidFill>
                <a:srgbClr val="6B6B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МОДЕЛЬ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Исторический backtest по кварталам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512063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9294"/>
                <a:gridCol w="1862050"/>
                <a:gridCol w="814647"/>
                <a:gridCol w="814647"/>
              </a:tblGrid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train → test</a:t>
                      </a:r>
                      <a:endParaRPr sz="13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test rate</a:t>
                      </a:r>
                      <a:endParaRPr sz="13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AUC</a:t>
                      </a:r>
                      <a:endParaRPr sz="13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AP</a:t>
                      </a:r>
                      <a:endParaRPr sz="13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2024-06 → 2024-09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5.53%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0.861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0.317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2024-09 → 2024-12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5.56%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0.852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0.308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2024-12 → 2025-03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5.30%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0.868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0.391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2025-03 → 2025-06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6.43%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0.796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0.261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2025-06 → 2025-09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7.42%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0.901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0.515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6" name="Picture 5" descr="rolling_backtest_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298448"/>
            <a:ext cx="5806440" cy="2736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4892040"/>
            <a:ext cx="53035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  <a:latin typeface="Calibri" panose="020F0502020204030204"/>
              </a:rPr>
              <a:t>Учим на квартале t, проверяем на t+1. График: AUC/AP и фактический churn на test.</a:t>
            </a:r>
            <a:endParaRPr sz="1400" b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Calibri" panose="020F0502020204030204"/>
              </a:rPr>
              <a:t>Просадка на 2025-06 совпадает с изменением поведения перед тарифом.</a:t>
            </a:r>
            <a:endParaRPr sz="1300" b="0">
              <a:solidFill>
                <a:srgbClr val="6B6B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ДАТАСЕТ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Отток вырос после тарифа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6675117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901"/>
                <a:gridCol w="2427316"/>
                <a:gridCol w="1061950"/>
                <a:gridCol w="1061950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snap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живых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ушли 90д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%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2024-07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9 565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614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6.42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2024-08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9 781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600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6.13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2025-06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12 048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593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4.92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2025-07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12 278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785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6.39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2025-08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12 560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907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7.22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2025-09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12 777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986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7.72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1371600"/>
            <a:ext cx="4023360" cy="4389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Calibri" panose="020F0502020204030204"/>
              </a:rPr>
              <a:t>1 июля 2025</a:t>
            </a:r>
            <a:endParaRPr sz="14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200" b="1">
                <a:solidFill>
                  <a:srgbClr val="1A1A1A"/>
                </a:solidFill>
                <a:latin typeface="Calibri" panose="020F0502020204030204"/>
              </a:rPr>
              <a:t>8 139 → 23 793 сум</a:t>
            </a:r>
            <a:endParaRPr sz="2200" b="1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>
                <a:solidFill>
                  <a:srgbClr val="6B6B6B"/>
                </a:solidFill>
                <a:latin typeface="Calibri" panose="020F0502020204030204"/>
              </a:rPr>
              <a:t>tariff_revision_2025</a:t>
            </a:r>
            <a:endParaRPr sz="14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A1A1A"/>
                </a:solidFill>
                <a:latin typeface="Calibri" panose="020F0502020204030204"/>
              </a:rPr>
              <a:t>Лето 2024: 6.42 → 6.13. Не сезон.</a:t>
            </a:r>
            <a:endParaRPr sz="1500" b="0">
              <a:solidFill>
                <a:srgbClr val="1A1A1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501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8323"/>
                <a:gridCol w="2658323"/>
                <a:gridCol w="2174991"/>
                <a:gridCol w="33833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Сегмент</a:t>
                      </a:r>
                      <a:endParaRPr sz="14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июнь 2025</a:t>
                      </a:r>
                      <a:endParaRPr sz="14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сентябрь 2025</a:t>
                      </a:r>
                      <a:endParaRPr sz="14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Δ п.п.</a:t>
                      </a:r>
                      <a:endParaRPr sz="1400" b="1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зарплатные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1.61%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3.01%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+1.40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не зарплатные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6.26%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9.67%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+3.41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mass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5.02%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7.75%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+2.73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affluent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4.47%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7.89%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+3.42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premium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4.97%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7.42%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+2.45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>
                    <a:lnL w="6350">
                      <a:solidFill>
                        <a:srgbClr val="E6E6E6"/>
                      </a:solidFill>
                    </a:ln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ТАРИФ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После 1 июля: кто пострадал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658495" y="4874895"/>
            <a:ext cx="10875645" cy="321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500">
                <a:solidFill>
                  <a:srgbClr val="1A1A1A"/>
                </a:solidFill>
                <a:latin typeface="Calibri" panose="020F0502020204030204"/>
                <a:sym typeface="+mn-ea"/>
              </a:rPr>
              <a:t>Сильнее всего вырос churn у не-зарплатных (+3.4 п.п.). Зарплатные держатся лучше, но тоже выросли.</a:t>
            </a:r>
            <a:endParaRPr lang="ru-RU" altLang="en-US" sz="1500">
              <a:solidFill>
                <a:srgbClr val="1A1A1A"/>
              </a:solidFill>
              <a:latin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ФИЧИ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As-of snapshot, относительно самого клиента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4957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235"/>
                <a:gridCol w="2990613"/>
                <a:gridCol w="4078109"/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блок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фичи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ушли vs остались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ритм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rhythm_break / pause_is_record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6.4 vs 1.9 · 38% vs 6%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переезд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mono_fade / bank_switch_score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21% vs 9% лестница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быт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days_without_grocery / pos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95 vs 41 · 59 vs 21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abandoned_favorite / empty_weeks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76% vs 43% · 6.6 vs 3.9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тариф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fee_pain / unbundling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закрыл продукт 14% vs 0.8%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мы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retention_failed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11% vs 0.1%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соседи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weirder_than_peers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1.75σ vs 0.29σ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7700" y="321945"/>
          <a:ext cx="6766560" cy="615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285"/>
                <a:gridCol w="2459990"/>
                <a:gridCol w="1076960"/>
                <a:gridCol w="1076325"/>
              </a:tblGrid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#</a:t>
                      </a:r>
                      <a:endParaRPr sz="13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фича</a:t>
                      </a:r>
                      <a:endParaRPr sz="13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Δ AP</a:t>
                      </a:r>
                      <a:endParaRPr sz="13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смысл</a:t>
                      </a:r>
                      <a:endParaRPr sz="13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retention_failed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+0.085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уже писали — не помогло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2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txn_cnt_90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+0.069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активность за квартал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3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app_events_30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+0.049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жизнь в приложении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4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recency_days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+0.045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текущая тишина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5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txn_cnt_30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+0.039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недавняя активность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6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is_payroll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+0.030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зарплатный клиент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cards_dead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+0.026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закрытые / мёртвые карты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8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empty_weeks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+0.024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дыры в недельном ритме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sub_price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+0.021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цена активной подписки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10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bank_switch_score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+0.017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лестница: карта не основная</a:t>
                      </a:r>
                      <a:endParaRPr sz="13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757160" y="321945"/>
            <a:ext cx="3782695" cy="119189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МОДЕЛЬ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Feature importance (permutation, test)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7889240" y="1661795"/>
            <a:ext cx="36506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1400">
                <a:solidFill>
                  <a:srgbClr val="1A1A1A"/>
                </a:solidFill>
                <a:latin typeface="Calibri" panose="020F0502020204030204"/>
                <a:sym typeface="+mn-ea"/>
              </a:rPr>
              <a:t>Перемешали колонку на test → насколько упал AP. Чем больше Δ AP, тем важнее фича.</a:t>
            </a:r>
            <a:endParaRPr lang="ru-RU" altLang="en-US" sz="1400">
              <a:solidFill>
                <a:srgbClr val="1A1A1A"/>
              </a:solidFill>
              <a:latin typeface="Calibri" panose="020F0502020204030204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СЦЕНАРИЙ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С кем взаимодействовали и что было после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495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214"/>
                <a:gridCol w="3954530"/>
                <a:gridCol w="1730107"/>
                <a:gridCol w="1730107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Группа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Кто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N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вернулись 90д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Control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тишина 30–90, без контакта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18 894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71%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Treatment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писали / звонили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1 516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4%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30–45, control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короткая тишина, без контакта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11 065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82%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30–45, treatment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короткая тишина, с контактом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894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3%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572000"/>
            <a:ext cx="10874959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 panose="020F0502020204030204"/>
              </a:rPr>
              <a:t>Кампании FEE_WAIVER / WINBACK / CALL_RETENTION били в уже тихих. Control часто возвращается сам — это пауза.</a:t>
            </a:r>
            <a:endParaRPr sz="1500" b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Calibri" panose="020F0502020204030204"/>
              </a:rPr>
              <a:t>Это селекция, не A/B uplift. Дальше — prevention на ещё живых, не повтор winback по «трупам».</a:t>
            </a:r>
            <a:endParaRPr sz="1500" b="0">
              <a:solidFill>
                <a:srgbClr val="6B6B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 panose="020F0502020204030204"/>
              </a:rPr>
              <a:t>ВЫГОДА</a:t>
            </a:r>
            <a:endParaRPr sz="1100" b="0">
              <a:solidFill>
                <a:srgbClr val="6B6B6B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 panose="020F0502020204030204"/>
              </a:rPr>
              <a:t>Не средний LTV с рынка</a:t>
            </a:r>
            <a:endParaRPr sz="2800" b="1">
              <a:solidFill>
                <a:srgbClr val="1A1A1A"/>
              </a:solidFill>
              <a:latin typeface="Calibri" panose="020F050202020403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4957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235"/>
                <a:gridCol w="2990613"/>
                <a:gridCol w="4078109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Что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Откуда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chemeClr val="bg1"/>
                          </a:solidFill>
                          <a:latin typeface="Calibri" panose="020F0502020204030204"/>
                        </a:rPr>
                        <a:t>Число</a:t>
                      </a:r>
                      <a:endParaRPr sz="1400" b="1">
                        <a:solidFill>
                          <a:schemeClr val="bg1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комиссия карты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churn_tariff_changes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8 139 → 23 793 сум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подписка, если активна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churn_subscriptions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медиана ~29 000 сум/мес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формула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наши таблицы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value_90d = 3 × (комиссия + подписка)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потери на test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956 ушедших × их value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 panose="020F0502020204030204"/>
                        </a:rPr>
                        <a:t>~74.5 млн сум / квартал</a:t>
                      </a:r>
                      <a:endParaRPr sz="1400" b="0">
                        <a:solidFill>
                          <a:srgbClr val="1A1A1A"/>
                        </a:solidFill>
                        <a:latin typeface="Calibri" panose="020F0502020204030204"/>
                      </a:endParaRP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389120"/>
            <a:ext cx="10874959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 panose="020F0502020204030204"/>
              </a:rPr>
              <a:t>×3, потому что горизонт таргета 90 дней. Если удержали — банк получает квартал маржи. Дальше не рисуем.</a:t>
            </a:r>
            <a:endParaRPr sz="1500" b="0">
              <a:solidFill>
                <a:srgbClr val="1A1A1A"/>
              </a:solidFill>
              <a:latin typeface="Calibri" panose="020F0502020204030204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 panose="020F0502020204030204"/>
              </a:rPr>
              <a:t>Средняя value на test ~78.8 тыс. сум.</a:t>
            </a:r>
            <a:endParaRPr sz="1400" b="0">
              <a:solidFill>
                <a:srgbClr val="6B6B6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4426</Words>
  <Application>WPS Presentation</Application>
  <PresentationFormat>On-screen Show (4:3)</PresentationFormat>
  <Paragraphs>579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2</cp:revision>
  <dcterms:created xsi:type="dcterms:W3CDTF">2013-01-27T09:14:00Z</dcterms:created>
  <dcterms:modified xsi:type="dcterms:W3CDTF">2026-08-13T04:29:21Z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1049-12.1.0.28032</vt:lpwstr>
  </property>
  <property fmtid="{D5CDD505-2E9C-101B-9397-08002B2CF9AE}" pid="3" name="ICV">
    <vt:lpwstr>3389BED790A14AC6B9FCB3699560C817_12</vt:lpwstr>
  </property>
</Properties>
</file>